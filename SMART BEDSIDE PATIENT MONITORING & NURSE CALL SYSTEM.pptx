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8" r:id="rId12"/>
    <p:sldId id="265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8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943" y="1143000"/>
            <a:ext cx="5486114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TextBox 2"/>
          <p:cNvSpPr txBox="1"/>
          <p:nvPr/>
        </p:nvSpPr>
        <p:spPr>
          <a:xfrm>
            <a:off x="1188720" y="868680"/>
            <a:ext cx="9811512" cy="2183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lang="en-IN"/>
              <a:t>`</a:t>
            </a:r>
            <a:r>
              <a:t>IoT • EMBEDDED SYSTEMS • HEALTHCARE ASSISTANCE</a:t>
            </a:r>
          </a:p>
          <a:p>
            <a:pPr>
              <a:lnSpc>
                <a:spcPct val="150000"/>
              </a:lnSpc>
              <a:spcBef>
                <a:spcPts val="800"/>
              </a:spcBef>
              <a:defRPr sz="28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lnSpc>
                <a:spcPct val="150000"/>
              </a:lnSpc>
              <a:spcBef>
                <a:spcPts val="400"/>
              </a:spcBef>
              <a:defRPr sz="1500" i="1">
                <a:solidFill>
                  <a:srgbClr val="555555"/>
                </a:solidFill>
                <a:latin typeface="Times New Roman" panose="02020603050405020304"/>
              </a:defRPr>
            </a:pPr>
            <a:r>
              <a:t>A Fault-Tolerant, Accountable Communication &amp; Vital-Sign Monitoring Network for Hospital Care</a:t>
            </a:r>
          </a:p>
        </p:txBody>
      </p:sp>
      <p:sp>
        <p:nvSpPr>
          <p:cNvPr id="4" name="Rectangle 3"/>
          <p:cNvSpPr/>
          <p:nvPr/>
        </p:nvSpPr>
        <p:spPr>
          <a:xfrm>
            <a:off x="1188720" y="2637790"/>
            <a:ext cx="9811512" cy="1905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04850" y="4025265"/>
            <a:ext cx="9811512" cy="1460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PROJECT TEAM &amp; ATTRIBUTION</a:t>
            </a:r>
          </a:p>
          <a:p>
            <a:pPr>
              <a:spcBef>
                <a:spcPts val="600"/>
              </a:spcBef>
              <a:defRPr sz="15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• Team Leader: Kavitha M</a:t>
            </a:r>
          </a:p>
          <a:p>
            <a:pPr>
              <a:spcBef>
                <a:spcPts val="400"/>
              </a:spcBef>
              <a:defRPr sz="1500" b="1">
                <a:solidFill>
                  <a:srgbClr val="222222"/>
                </a:solidFill>
                <a:latin typeface="Times New Roman" panose="02020603050405020304"/>
              </a:defRPr>
            </a:pPr>
            <a:r>
              <a:t>• Team Members: Jayasri P  |  Iniyan A K  |  Manokrithik TP</a:t>
            </a:r>
          </a:p>
          <a:p>
            <a:pPr>
              <a:spcBef>
                <a:spcPts val="400"/>
              </a:spcBef>
              <a:defRPr sz="1500" b="1">
                <a:solidFill>
                  <a:srgbClr val="555555"/>
                </a:solidFill>
                <a:latin typeface="Times New Roman" panose="02020603050405020304"/>
              </a:defRPr>
            </a:pPr>
            <a:r>
              <a:t>• Faculty Mentor: Mr. Mahendar</a:t>
            </a:r>
            <a:r>
              <a:rPr lang="en-IN"/>
              <a:t> </a:t>
            </a:r>
            <a:r>
              <a:rPr lang="en-US" altLang="en-US"/>
              <a:t>Embedded Trainer</a:t>
            </a:r>
            <a:endParaRPr lang="en-US" altLang="en-US"/>
          </a:p>
          <a:p>
            <a:pPr>
              <a:spcBef>
                <a:spcPts val="400"/>
              </a:spcBef>
              <a:defRPr sz="1500" b="1">
                <a:solidFill>
                  <a:srgbClr val="555555"/>
                </a:solidFill>
                <a:latin typeface="Times New Roman" panose="02020603050405020304"/>
              </a:defRPr>
            </a:pPr>
            <a:r>
              <a:rPr lang="en-IN" altLang="en-US"/>
              <a:t>   </a:t>
            </a:r>
            <a:r>
              <a:rPr lang="en-US" altLang="en-US"/>
              <a:t>CDC/Assista</a:t>
            </a:r>
            <a:r>
              <a:rPr lang="en-IN" altLang="en-US"/>
              <a:t>nt</a:t>
            </a:r>
            <a:r>
              <a:rPr lang="en-US" altLang="en-US"/>
              <a:t> professor ECE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Problem Statement &amp; Proposed Solution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10260" y="1508760"/>
            <a:ext cx="4937760" cy="40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D9534F"/>
                </a:solidFill>
                <a:latin typeface="Times New Roman" panose="02020603050405020304"/>
              </a:defRPr>
            </a:pPr>
            <a:r>
              <a:t>THE HEALTHCARE COMMUNICATION GAP</a:t>
            </a:r>
          </a:p>
          <a:p>
            <a:pPr algn="just"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Speech &amp; Mobility Barriers</a:t>
            </a:r>
            <a:endParaRPr sz="1600"/>
          </a:p>
          <a:p>
            <a:pPr algn="just"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Patients with limited physical movement or speech impairment struggle to call for immediate assistance.</a:t>
            </a:r>
            <a:endParaRPr sz="1600"/>
          </a:p>
          <a:p>
            <a:pPr algn="just"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Unaddressed Calls &amp; Missing Logs</a:t>
            </a:r>
            <a:endParaRPr sz="1600"/>
          </a:p>
          <a:p>
            <a:pPr algn="just"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Traditional call lights lack automated response tracking, leaving calls unanswered with no accountability.</a:t>
            </a:r>
            <a:endParaRPr sz="1600"/>
          </a:p>
          <a:p>
            <a:pPr algn="just"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Connectivity Vulnerabilities</a:t>
            </a:r>
            <a:endParaRPr sz="1600"/>
          </a:p>
          <a:p>
            <a:pPr algn="just"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Standard remote monitoring systems fail completely when Wi-Fi or hospital network outages occur.</a:t>
            </a:r>
            <a:endParaRPr sz="1600"/>
          </a:p>
        </p:txBody>
      </p:sp>
      <p:sp>
        <p:nvSpPr>
          <p:cNvPr id="7" name="TextBox 6"/>
          <p:cNvSpPr txBox="1"/>
          <p:nvPr/>
        </p:nvSpPr>
        <p:spPr>
          <a:xfrm>
            <a:off x="6309360" y="1508760"/>
            <a:ext cx="5120640" cy="4046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OUR ESP32-BASED PROTOTYPE SOLUTION</a:t>
            </a:r>
          </a:p>
          <a:p>
            <a:pPr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600"/>
              <a:t>✔ Dual Bedside Input System</a:t>
            </a:r>
            <a:endParaRPr sz="1600"/>
          </a:p>
          <a:p>
            <a:pPr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Combines an emergency push button with a multi-category touchscreen interface (Water, Pain, Nurse, Toilet).</a:t>
            </a:r>
            <a:endParaRPr sz="1600"/>
          </a:p>
          <a:p>
            <a:pPr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600"/>
              <a:t>✔ Central Dashboard &amp; Timeout Escalation</a:t>
            </a:r>
            <a:endParaRPr sz="1600"/>
          </a:p>
          <a:p>
            <a:pPr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Displays active calls in real time and automatically routes unanswered calls to secondary caregivers after timeout.</a:t>
            </a:r>
            <a:endParaRPr sz="1600"/>
          </a:p>
          <a:p>
            <a:pPr>
              <a:lnSpc>
                <a:spcPct val="150000"/>
              </a:lnSpc>
              <a:spcBef>
                <a:spcPts val="1000"/>
              </a:spcBef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600"/>
              <a:t>✔ Offline Fail-Safe Resilience</a:t>
            </a:r>
            <a:endParaRPr sz="1600"/>
          </a:p>
          <a:p>
            <a:pPr>
              <a:lnSpc>
                <a:spcPct val="150000"/>
              </a:lnSpc>
              <a:defRPr sz="12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600"/>
              <a:t>Triggers local bedside buzzer/LED alarms instantly and stores logs in EEPROM memory during network loss.</a:t>
            </a:r>
            <a:endParaRPr sz="1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Core Objectives &amp; Key Innovation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55448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01. ACCESSIBLE REQUESTS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Provide non-verbal touchscreen &amp; push-button help inputs for bedridden patients.</a:t>
            </a:r>
            <a:endParaRPr sz="1600"/>
          </a:p>
        </p:txBody>
      </p:sp>
      <p:sp>
        <p:nvSpPr>
          <p:cNvPr id="6" name="Rounded Rectangle 5"/>
          <p:cNvSpPr/>
          <p:nvPr/>
        </p:nvSpPr>
        <p:spPr>
          <a:xfrm>
            <a:off x="4297679" y="14173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55448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02. CONTEXT-RICH ALERTS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Transmit bed ID, request category, and RTC timestamp directly to nurse stations.</a:t>
            </a:r>
            <a:endParaRPr sz="1600"/>
          </a:p>
        </p:txBody>
      </p:sp>
      <p:sp>
        <p:nvSpPr>
          <p:cNvPr id="8" name="Rounded Rectangle 7"/>
          <p:cNvSpPr/>
          <p:nvPr/>
        </p:nvSpPr>
        <p:spPr>
          <a:xfrm>
            <a:off x="8046719" y="141732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55448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03. RESPONSE TRACKING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Record exact caregiver acknowledgement and call resolution timestamps.</a:t>
            </a:r>
            <a:endParaRPr sz="1600"/>
          </a:p>
        </p:txBody>
      </p:sp>
      <p:sp>
        <p:nvSpPr>
          <p:cNvPr id="10" name="Rounded Rectangle 9"/>
          <p:cNvSpPr/>
          <p:nvPr/>
        </p:nvSpPr>
        <p:spPr>
          <a:xfrm>
            <a:off x="548640" y="356616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04. TIMED ESCALATION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Automatically route unacknowledged calls to secondary staff after a set timeout.</a:t>
            </a:r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4297679" y="356616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370332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05. OFFLINE RESILIENCE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Maintain local buzzer alarms and EEPROM event buffers during Wi-Fi outages.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8046719" y="3566160"/>
            <a:ext cx="352044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79" y="3703320"/>
            <a:ext cx="3246120" cy="1153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06. AUDITABLE RECORDS</a:t>
            </a:r>
            <a:endParaRPr sz="1600"/>
          </a:p>
          <a:p>
            <a:pPr>
              <a:spcBef>
                <a:spcPts val="600"/>
              </a:spcBef>
              <a:defRPr sz="115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Generate downloadable CSV/PDF response logs for shift audits and quality review.</a:t>
            </a:r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548640" y="5806440"/>
            <a:ext cx="11091672" cy="594360"/>
          </a:xfrm>
          <a:prstGeom prst="roundRect">
            <a:avLst/>
          </a:prstGeom>
          <a:solidFill>
            <a:srgbClr val="0C2340"/>
          </a:solidFill>
          <a:ln w="190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852160"/>
            <a:ext cx="1072591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FFFFFF"/>
                </a:solidFill>
                <a:latin typeface="Times New Roman" panose="02020603050405020304"/>
              </a:defRPr>
            </a:pPr>
            <a:r>
              <a:t>KEY DIFFERENTIATOR: Response Acknowledgement + Automatic Timeout Escalation + Local Offline Alarms + Audit Logging.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System Features &amp; Bedside Touchscreen UI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937760" cy="51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6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CORE SYSTEM CAPABILITIES</a:t>
            </a:r>
            <a:endParaRPr sz="1800"/>
          </a:p>
          <a:p>
            <a:pPr algn="just">
              <a:lnSpc>
                <a:spcPct val="100000"/>
              </a:lnSpc>
              <a:spcBef>
                <a:spcPts val="600"/>
              </a:spcBef>
              <a:defRPr sz="12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Vital-Sign Dashboard</a:t>
            </a:r>
            <a:endParaRPr sz="1800"/>
          </a:p>
          <a:p>
            <a:pPr algn="just">
              <a:lnSpc>
                <a:spcPct val="100000"/>
              </a:lnSpc>
              <a:defRPr sz="11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Displays estimated heart rate (BPM) and SpO2 from the MAX30102 sensor with pulse quality indicators.</a:t>
            </a:r>
            <a:endParaRPr sz="1800"/>
          </a:p>
          <a:p>
            <a:pPr algn="just">
              <a:lnSpc>
                <a:spcPct val="100000"/>
              </a:lnSpc>
              <a:spcBef>
                <a:spcPts val="600"/>
              </a:spcBef>
              <a:defRPr sz="12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Touchscreen Assistance</a:t>
            </a:r>
            <a:endParaRPr sz="1800"/>
          </a:p>
          <a:p>
            <a:pPr algn="just">
              <a:lnSpc>
                <a:spcPct val="100000"/>
              </a:lnSpc>
              <a:defRPr sz="11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Quick-select icons for Water, Pain, Nurse Assist, Toilet, and Mobility Assistance.</a:t>
            </a:r>
            <a:endParaRPr sz="1800"/>
          </a:p>
          <a:p>
            <a:pPr algn="just">
              <a:lnSpc>
                <a:spcPct val="100000"/>
              </a:lnSpc>
              <a:spcBef>
                <a:spcPts val="600"/>
              </a:spcBef>
              <a:defRPr sz="12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Smart Alerts &amp; Escalation</a:t>
            </a:r>
            <a:endParaRPr sz="1800"/>
          </a:p>
          <a:p>
            <a:pPr algn="just">
              <a:lnSpc>
                <a:spcPct val="100000"/>
              </a:lnSpc>
              <a:defRPr sz="11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Combines instant bedside audio-visual indicators with automated dashboard alerts.</a:t>
            </a:r>
            <a:endParaRPr sz="1800"/>
          </a:p>
          <a:p>
            <a:pPr algn="just">
              <a:lnSpc>
                <a:spcPct val="100000"/>
              </a:lnSpc>
              <a:spcBef>
                <a:spcPts val="600"/>
              </a:spcBef>
              <a:defRPr sz="12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Digital Patient Reports</a:t>
            </a:r>
            <a:endParaRPr sz="1800"/>
          </a:p>
          <a:p>
            <a:pPr algn="just">
              <a:lnSpc>
                <a:spcPct val="100000"/>
              </a:lnSpc>
              <a:defRPr sz="11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Generates comprehensive shift reports and CSV/PDF response analytics.</a:t>
            </a:r>
            <a:endParaRPr sz="1800"/>
          </a:p>
          <a:p>
            <a:pPr algn="just">
              <a:lnSpc>
                <a:spcPct val="100000"/>
              </a:lnSpc>
              <a:spcBef>
                <a:spcPts val="600"/>
              </a:spcBef>
              <a:defRPr sz="12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Bilingual Accessibility</a:t>
            </a:r>
            <a:endParaRPr sz="1800"/>
          </a:p>
          <a:p>
            <a:pPr algn="just">
              <a:lnSpc>
                <a:spcPct val="100000"/>
              </a:lnSpc>
              <a:defRPr sz="11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Supports high-contrast UI layouts with English and Tamil language toggles.</a:t>
            </a:r>
            <a:endParaRPr sz="1800"/>
          </a:p>
        </p:txBody>
      </p:sp>
      <p:pic>
        <p:nvPicPr>
          <p:cNvPr id="7" name="Picture 6" descr="diagram3_bedside_ui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508760"/>
            <a:ext cx="52120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4754880"/>
            <a:ext cx="5212080" cy="1463040"/>
          </a:xfrm>
          <a:prstGeom prst="roundRect">
            <a:avLst/>
          </a:prstGeom>
          <a:solidFill>
            <a:srgbClr val="E6F2F4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746625"/>
            <a:ext cx="4937760" cy="100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BEDSIDE TOUCHSCREEN UI &amp; MAX30102 VITALS</a:t>
            </a:r>
            <a:endParaRPr sz="1400"/>
          </a:p>
          <a:p>
            <a:pPr>
              <a:spcBef>
                <a:spcPts val="400"/>
              </a:spcBef>
              <a:defRPr sz="11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400"/>
              <a:t>Integrates quick-select category icons (Water, Nurse, Pain, Toilet, Bed) with live heart rate (BPM) and SpO2 vital sign estimates in a dual-language (English/Tamil) interface.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System Architecture &amp; Communication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diagram1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508760"/>
            <a:ext cx="539496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85800" y="4754880"/>
            <a:ext cx="5394960" cy="1463040"/>
          </a:xfrm>
          <a:prstGeom prst="roundRect">
            <a:avLst/>
          </a:prstGeom>
          <a:solidFill>
            <a:srgbClr val="E3E8EF"/>
          </a:solidFill>
          <a:ln w="190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80060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MULTI-TIER SYSTEM ARCHITECTURE</a:t>
            </a:r>
          </a:p>
          <a:p>
            <a:pPr>
              <a:spcBef>
                <a:spcPts val="400"/>
              </a:spcBef>
              <a:defRPr sz="1100">
                <a:solidFill>
                  <a:srgbClr val="222222"/>
                </a:solidFill>
                <a:latin typeface="Times New Roman" panose="02020603050405020304"/>
              </a:defRPr>
            </a:pPr>
            <a:r>
              <a:t>End-to-end data flow connecting bedside touch/button inputs, local ESP32 processing, Wi-Fi network transport, central nurse station dashboard, and EEPROM fail-safe backup.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371600"/>
            <a:ext cx="512064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0" y="1508760"/>
            <a:ext cx="4754880" cy="463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ARCHITECTURAL LAYERS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• 1. Patient Edge Node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ESP32 microcontroller interfaces with touchscreen, push button, and MAX30102 vital sign sensor.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• 2. Local Alarm Layer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Triggers instant local buzzer and LED indicators at bedside for immediate immediate awareness.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• 3. Network Transport Layer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Transmits encrypted event packets via HTTP/MQTT over hospital Wi-Fi.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• 4. Dashboard &amp; Database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Central Web UI displays active ward calls, logs timestamps, and manages escalation timers.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endParaRPr sz="18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38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lang="en-IN"/>
              <a:t>Healthcare Uses</a:t>
            </a:r>
            <a:r>
              <a:t> &amp; Alert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85800" y="1726565"/>
            <a:ext cx="5029200" cy="4491355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80000"/>
              </a:lnSpc>
            </a:pPr>
            <a:r>
              <a:rPr lang="en-US" altLang="en-US" b="1">
                <a:solidFill>
                  <a:schemeClr val="accent2">
                    <a:lumMod val="75000"/>
                  </a:schemeClr>
                </a:solidFill>
              </a:rPr>
              <a:t>Healthcare Applications of CareConnect</a:t>
            </a:r>
            <a:endParaRPr lang="en-US" altLang="en-US" b="1">
              <a:solidFill>
                <a:schemeClr val="accent2">
                  <a:lumMod val="75000"/>
                </a:schemeClr>
              </a:solidFill>
            </a:endParaRPr>
          </a:p>
          <a:p>
            <a:pPr algn="ctr">
              <a:lnSpc>
                <a:spcPct val="80000"/>
              </a:lnSpc>
            </a:pP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Emergency Nurse Call: Enables patients to request immediate assistance from nurses.</a:t>
            </a: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Centralized Monitoring: Displays patient requests from multiple beds on a single dashboard.</a:t>
            </a: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Health Monitoring: Measures heart rate and estimated SpO₂ using the MAX30102 sensor.</a:t>
            </a: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Alert System: Uses a buzzer and LED for local alerts and notifications.</a:t>
            </a: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endParaRPr lang="en-US" altLang="en-US">
              <a:solidFill>
                <a:srgbClr val="FF0000"/>
              </a:solidFill>
            </a:endParaRPr>
          </a:p>
          <a:p>
            <a:pPr algn="l">
              <a:lnSpc>
                <a:spcPct val="80000"/>
              </a:lnSpc>
            </a:pPr>
            <a:r>
              <a:rPr lang="en-US" altLang="en-US">
                <a:solidFill>
                  <a:srgbClr val="FF0000"/>
                </a:solidFill>
              </a:rPr>
              <a:t>Digital Record Management: Tracks patient requests and maintains records for better follow-up.</a:t>
            </a:r>
            <a:endParaRPr lang="en-US" altLang="en-US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263640" y="1508760"/>
            <a:ext cx="5212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6-STAGE CALL LIFECYCLE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79" y="2057400"/>
            <a:ext cx="233172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1</a:t>
            </a:r>
            <a:r>
              <a:rPr sz="1600"/>
              <a:t>. REQUEST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Patient presses push button or selects touchscreen category.</a:t>
            </a:r>
            <a:endParaRPr sz="1600"/>
          </a:p>
        </p:txBody>
      </p:sp>
      <p:sp>
        <p:nvSpPr>
          <p:cNvPr id="12" name="Rounded Rectangle 11"/>
          <p:cNvSpPr/>
          <p:nvPr/>
        </p:nvSpPr>
        <p:spPr>
          <a:xfrm>
            <a:off x="8915400" y="196596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06840" y="2057400"/>
            <a:ext cx="233172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2. REGISTER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ESP32 logs event with patient bed ID &amp; RTC timestamp.</a:t>
            </a:r>
            <a:endParaRPr sz="1600"/>
          </a:p>
        </p:txBody>
      </p:sp>
      <p:sp>
        <p:nvSpPr>
          <p:cNvPr id="14" name="Rounded Rectangle 13"/>
          <p:cNvSpPr/>
          <p:nvPr/>
        </p:nvSpPr>
        <p:spPr>
          <a:xfrm>
            <a:off x="6263640" y="338328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79" y="3474720"/>
            <a:ext cx="233172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3. ALERT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Bedside buzzer sounds &amp; dashboard displays active call.</a:t>
            </a:r>
            <a:endParaRPr sz="1600"/>
          </a:p>
        </p:txBody>
      </p:sp>
      <p:sp>
        <p:nvSpPr>
          <p:cNvPr id="16" name="Rounded Rectangle 15"/>
          <p:cNvSpPr/>
          <p:nvPr/>
        </p:nvSpPr>
        <p:spPr>
          <a:xfrm>
            <a:off x="8915400" y="338328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06840" y="3474720"/>
            <a:ext cx="233172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4. ACKNOWLEDGE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Primary nurse accepts call; local/remote alarm stops.</a:t>
            </a:r>
            <a:endParaRPr sz="1600"/>
          </a:p>
        </p:txBody>
      </p:sp>
      <p:sp>
        <p:nvSpPr>
          <p:cNvPr id="18" name="Rounded Rectangle 17"/>
          <p:cNvSpPr/>
          <p:nvPr/>
        </p:nvSpPr>
        <p:spPr>
          <a:xfrm>
            <a:off x="6263640" y="480060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55079" y="4892040"/>
            <a:ext cx="2331720" cy="1114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5. ESCALATE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Unacknowledged call auto-routes to secondary staff after timeout.</a:t>
            </a:r>
            <a:endParaRPr sz="1600"/>
          </a:p>
        </p:txBody>
      </p:sp>
      <p:sp>
        <p:nvSpPr>
          <p:cNvPr id="20" name="Rounded Rectangle 19"/>
          <p:cNvSpPr/>
          <p:nvPr/>
        </p:nvSpPr>
        <p:spPr>
          <a:xfrm>
            <a:off x="8915400" y="4800600"/>
            <a:ext cx="2514600" cy="1280160"/>
          </a:xfrm>
          <a:prstGeom prst="roundRect">
            <a:avLst/>
          </a:prstGeom>
          <a:solidFill>
            <a:srgbClr val="F8F9FA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06840" y="4892040"/>
            <a:ext cx="2331720" cy="8680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6. CLOSE &amp; REPORT</a:t>
            </a:r>
            <a:endParaRPr sz="1600"/>
          </a:p>
          <a:p>
            <a:pPr>
              <a:spcBef>
                <a:spcPts val="300"/>
              </a:spcBef>
              <a:defRPr sz="10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Caregiver closes request; logs export to CSV/PDF.</a:t>
            </a:r>
            <a:endParaRPr sz="16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Hardware &amp; Software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86865"/>
            <a:ext cx="4937760" cy="4631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HARDWARE &amp; SOFTWARE SPECIFICATIONS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ESP32 MCU Board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Dual-core 240MHz microcontroller with built-in Wi-Fi, BLE, and internal EEPROM.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3.5" TFT Touchscreen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SPI-driven high-contrast touch UI for multi-category help selections.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MAX30102 Vital Sensor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I2C optical heart rate and SpO2 estimation module with noise filtering.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• Emergency Button &amp; Alarm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Direct GPIO push button, piezo buzzer, and status LED for instant local alerts.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endParaRPr sz="1800"/>
          </a:p>
        </p:txBody>
      </p:sp>
      <p:pic>
        <p:nvPicPr>
          <p:cNvPr id="7" name="Picture 6" descr="diagram5_hardwa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508760"/>
            <a:ext cx="52120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4754880"/>
            <a:ext cx="5212080" cy="1463040"/>
          </a:xfrm>
          <a:prstGeom prst="roundRect">
            <a:avLst/>
          </a:prstGeom>
          <a:solidFill>
            <a:srgbClr val="E6F2F4"/>
          </a:solidFill>
          <a:ln w="19050">
            <a:solidFill>
              <a:srgbClr val="007A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800600"/>
            <a:ext cx="4937760" cy="11271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600"/>
              <a:t>HARDWARE PIN INTERFACING SCHEMATIC</a:t>
            </a:r>
            <a:endParaRPr sz="1600"/>
          </a:p>
          <a:p>
            <a:pPr>
              <a:spcBef>
                <a:spcPts val="400"/>
              </a:spcBef>
              <a:defRPr sz="1100">
                <a:solidFill>
                  <a:srgbClr val="222222"/>
                </a:solidFill>
              </a:defRPr>
            </a:pPr>
            <a:r>
              <a:rPr sz="1600"/>
              <a:t>Pin assignment map for ESP32 core controller interfacing with GPIO 4 (Button), I2C SDA/SCL 21/22 (MAX30102), SPI bus (TFT display), and GPIO 5/12 (Buzzer/LED).</a:t>
            </a:r>
            <a:endParaRPr sz="16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Feasibility, Social Impact &amp; Safety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63040"/>
            <a:ext cx="3246120" cy="19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400"/>
              <a:t>TECHNICAL FEASIBILITY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Low-Cost Hardware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Constructed using widely available, off-the-shelf COTS embedded components.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Modular Architecture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Allows easy scaling from single-bed prototypes to ward-wide hospital deployments.</a:t>
            </a:r>
            <a:endParaRPr sz="1400"/>
          </a:p>
        </p:txBody>
      </p:sp>
      <p:sp>
        <p:nvSpPr>
          <p:cNvPr id="6" name="Rounded Rectangle 5"/>
          <p:cNvSpPr/>
          <p:nvPr/>
        </p:nvSpPr>
        <p:spPr>
          <a:xfrm>
            <a:off x="4297679" y="137160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434840" y="1463040"/>
            <a:ext cx="3246120" cy="19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400"/>
              <a:t>SOCIAL IMPACT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Patient Empowerment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Provides an intuitive voice-free call system for bedridden and speech-impaired patients.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Reduced Nurse Fatigue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Categorized requests prioritize urgent calls and streamline nursing workflows.</a:t>
            </a:r>
            <a:endParaRPr sz="1400"/>
          </a:p>
        </p:txBody>
      </p:sp>
      <p:sp>
        <p:nvSpPr>
          <p:cNvPr id="8" name="Rounded Rectangle 7"/>
          <p:cNvSpPr/>
          <p:nvPr/>
        </p:nvSpPr>
        <p:spPr>
          <a:xfrm>
            <a:off x="8046719" y="1371600"/>
            <a:ext cx="352044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183879" y="1463040"/>
            <a:ext cx="3246120" cy="19170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400"/>
              <a:t>SCALABILITY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Hospital Integration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Supports MQTT/HTTP data integration into existing hospital management software.</a:t>
            </a:r>
            <a:endParaRPr sz="1400"/>
          </a:p>
          <a:p>
            <a:pPr>
              <a:spcBef>
                <a:spcPts val="400"/>
              </a:spcBef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400"/>
              <a:t>• Audit Compliance</a:t>
            </a:r>
            <a:endParaRPr sz="1400"/>
          </a:p>
          <a:p>
            <a:pPr>
              <a:defRPr sz="100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400"/>
              <a:t>Automated timestamps ensure transparent response records for hospital accreditation.</a:t>
            </a:r>
            <a:endParaRPr sz="1400"/>
          </a:p>
        </p:txBody>
      </p:sp>
      <p:sp>
        <p:nvSpPr>
          <p:cNvPr id="10" name="Rounded Rectangle 9"/>
          <p:cNvSpPr/>
          <p:nvPr/>
        </p:nvSpPr>
        <p:spPr>
          <a:xfrm>
            <a:off x="548640" y="3931920"/>
            <a:ext cx="11091672" cy="2468880"/>
          </a:xfrm>
          <a:prstGeom prst="roundRect">
            <a:avLst/>
          </a:prstGeom>
          <a:solidFill>
            <a:srgbClr val="FDF2F2"/>
          </a:solidFill>
          <a:ln w="19050">
            <a:solidFill>
              <a:srgbClr val="D953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4023360"/>
            <a:ext cx="10725912" cy="2014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D9534F"/>
                </a:solidFill>
                <a:latin typeface="Times New Roman" panose="02020603050405020304"/>
              </a:defRPr>
            </a:pPr>
            <a:r>
              <a:t>IMPORTANT SAFETY BOUNDARY &amp; TECHNICAL DISCLAIMER</a:t>
            </a:r>
          </a:p>
          <a:p>
            <a:pPr>
              <a:spcBef>
                <a:spcPts val="600"/>
              </a:spcBef>
              <a:defRPr sz="11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Assistance Aid, Not Life-Critical Monitor: This system is designed strictly as an accountable bedside communication and vital monitoring aid. It is NOT certified for life-critical ICU alarm monitoring.</a:t>
            </a:r>
            <a:endParaRPr sz="1600"/>
          </a:p>
          <a:p>
            <a:pPr>
              <a:spcBef>
                <a:spcPts val="600"/>
              </a:spcBef>
              <a:defRPr sz="11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Vital-Sign Estimation Scope: MAX30102 heart rate and SpO2 estimates provide general trend awareness and early warning context; they do not replace clinical-grade medical diagnostic instruments.</a:t>
            </a:r>
            <a:endParaRPr sz="1600"/>
          </a:p>
          <a:p>
            <a:pPr>
              <a:spcBef>
                <a:spcPts val="600"/>
              </a:spcBef>
              <a:defRPr sz="1100">
                <a:solidFill>
                  <a:srgbClr val="222222"/>
                </a:solidFill>
                <a:latin typeface="Times New Roman" panose="02020603050405020304"/>
              </a:defRPr>
            </a:pPr>
            <a:r>
              <a:rPr sz="1600"/>
              <a:t>• Fail-Safe Redundancy: In the event of total power loss or micro-controller fault, traditional mechanical bedside call systems should remain as secondary physical backup.</a:t>
            </a:r>
            <a:endParaRPr sz="1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t>SMART BEDSIDE PATIENT MONITORING &amp; NURSE CALL SYSTEM</a:t>
            </a:r>
          </a:p>
          <a:p>
            <a:pPr>
              <a:defRPr sz="24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Expected Prototype Demonstration Output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188720"/>
            <a:ext cx="11091672" cy="254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371600"/>
            <a:ext cx="5303520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4937760" cy="43541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rPr sz="1800"/>
              <a:t>PROTOTYPE VALIDATION RESULTS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✔ Patient Touchscreen Display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Successfully renders multi-category request icons, bed status, and MAX30102 pulse/SpO2 readings.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✔ Nurse Station Dashboard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Real-time web portal displaying ward bed status, active calls, and response time counters.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✔ Automated Escalation Trigger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Demonstrated secondary alert routing when primary calls remain unacknowledged past timeout.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r>
              <a:rPr sz="1800"/>
              <a:t>✔ Offline Fail-Safe Test</a:t>
            </a:r>
            <a:endParaRPr sz="1800"/>
          </a:p>
          <a:p>
            <a:pPr>
              <a:defRPr sz="1050">
                <a:solidFill>
                  <a:srgbClr val="555555"/>
                </a:solidFill>
                <a:latin typeface="Times New Roman" panose="02020603050405020304"/>
              </a:defRPr>
            </a:pPr>
            <a:r>
              <a:rPr sz="1800"/>
              <a:t>Verified local buzzer activation and EEPROM event logging during simulated Wi-Fi disconnects.</a:t>
            </a:r>
            <a:endParaRPr sz="1800"/>
          </a:p>
          <a:p>
            <a:pPr>
              <a:spcBef>
                <a:spcPts val="600"/>
              </a:spcBef>
              <a:defRPr sz="1200" b="1">
                <a:solidFill>
                  <a:srgbClr val="007A87"/>
                </a:solidFill>
                <a:latin typeface="Times New Roman" panose="02020603050405020304"/>
              </a:defRPr>
            </a:pPr>
            <a:endParaRPr sz="1800"/>
          </a:p>
        </p:txBody>
      </p:sp>
      <p:pic>
        <p:nvPicPr>
          <p:cNvPr id="7" name="Picture 6" descr="diagram4_dashboar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63640" y="1508760"/>
            <a:ext cx="5212080" cy="31089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263640" y="4754880"/>
            <a:ext cx="5212080" cy="1463040"/>
          </a:xfrm>
          <a:prstGeom prst="roundRect">
            <a:avLst/>
          </a:prstGeom>
          <a:solidFill>
            <a:srgbClr val="F3F4F6"/>
          </a:solidFill>
          <a:ln w="19050">
            <a:solidFill>
              <a:srgbClr val="0C23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4800600"/>
            <a:ext cx="4937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CENTRAL NURSE DASHBOARD UI</a:t>
            </a:r>
          </a:p>
          <a:p>
            <a:pPr>
              <a:spcBef>
                <a:spcPts val="400"/>
              </a:spcBef>
              <a:defRPr sz="1100">
                <a:solidFill>
                  <a:srgbClr val="222222"/>
                </a:solidFill>
              </a:defRPr>
            </a:pPr>
            <a:r>
              <a:t>Real-time ward monitoring console displaying active calls, elapsed response time counters, color-coded status badges (Active, Escalated, Closed), and shift report exporters.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>
            <a:lumMod val="20000"/>
            <a:lumOff val="80000"/>
            <a:alpha val="39000"/>
          </a:schemeClr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563245"/>
            <a:ext cx="3977640" cy="296164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3639185"/>
            <a:ext cx="3978910" cy="304228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98743" y="163513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b="1">
                <a:solidFill>
                  <a:schemeClr val="tx2"/>
                </a:solidFill>
              </a:rPr>
              <a:t>Hardware </a:t>
            </a:r>
            <a:r>
              <a:rPr lang="en-IN" b="1">
                <a:solidFill>
                  <a:schemeClr val="tx2"/>
                </a:solidFill>
              </a:rPr>
              <a:t>O</a:t>
            </a:r>
            <a:r>
              <a:rPr b="1">
                <a:solidFill>
                  <a:schemeClr val="tx2"/>
                </a:solidFill>
              </a:rPr>
              <a:t>utput</a:t>
            </a:r>
            <a:endParaRPr b="1">
              <a:solidFill>
                <a:schemeClr val="tx2"/>
              </a:solidFill>
            </a:endParaRPr>
          </a:p>
        </p:txBody>
      </p:sp>
      <p:sp>
        <p:nvSpPr>
          <p:cNvPr id="7" name="Text Box 6"/>
          <p:cNvSpPr txBox="1"/>
          <p:nvPr/>
        </p:nvSpPr>
        <p:spPr>
          <a:xfrm>
            <a:off x="5401628" y="194628"/>
            <a:ext cx="5080000" cy="368300"/>
          </a:xfrm>
          <a:prstGeom prst="rect">
            <a:avLst/>
          </a:prstGeom>
        </p:spPr>
        <p:txBody>
          <a:bodyPr>
            <a:spAutoFit/>
          </a:bodyPr>
          <a:p>
            <a:r>
              <a:rPr lang="en-IN" b="1">
                <a:solidFill>
                  <a:schemeClr val="tx2"/>
                </a:solidFill>
              </a:rPr>
              <a:t>Soft</a:t>
            </a:r>
            <a:r>
              <a:rPr b="1">
                <a:solidFill>
                  <a:schemeClr val="tx2"/>
                </a:solidFill>
              </a:rPr>
              <a:t>ware </a:t>
            </a:r>
            <a:r>
              <a:rPr lang="en-IN" b="1">
                <a:solidFill>
                  <a:schemeClr val="tx2"/>
                </a:solidFill>
              </a:rPr>
              <a:t>O</a:t>
            </a:r>
            <a:r>
              <a:rPr b="1">
                <a:solidFill>
                  <a:schemeClr val="tx2"/>
                </a:solidFill>
              </a:rPr>
              <a:t>utput</a:t>
            </a:r>
            <a:endParaRPr b="1">
              <a:solidFill>
                <a:schemeClr val="tx2"/>
              </a:solidFill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650" y="744855"/>
            <a:ext cx="5767070" cy="561594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-317" y="862648"/>
            <a:ext cx="5080000" cy="337185"/>
          </a:xfrm>
          <a:prstGeom prst="rect">
            <a:avLst/>
          </a:prstGeom>
        </p:spPr>
        <p:txBody>
          <a:bodyPr>
            <a:spAutoFit/>
          </a:bodyPr>
          <a:p>
            <a:r>
              <a:rPr lang="en-IN" sz="1600" b="1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</a:rPr>
              <a:t>Patient</a:t>
            </a:r>
            <a:endParaRPr lang="en-IN" sz="1600" b="1">
              <a:solidFill>
                <a:schemeClr val="tx2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2" name="Text Box 11"/>
          <p:cNvSpPr txBox="1"/>
          <p:nvPr/>
        </p:nvSpPr>
        <p:spPr>
          <a:xfrm>
            <a:off x="99060" y="3784600"/>
            <a:ext cx="6096000" cy="3371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sz="1600" b="1">
                <a:solidFill>
                  <a:schemeClr val="tx2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Nurse</a:t>
            </a:r>
            <a:endParaRPr lang="en-IN" sz="1600" b="1">
              <a:solidFill>
                <a:schemeClr val="tx2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7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629285"/>
            <a:ext cx="10360152" cy="55778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CD6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3030855"/>
            <a:ext cx="9811512" cy="10039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THANK YOU</a:t>
            </a:r>
          </a:p>
          <a:p>
            <a:pPr algn="ctr">
              <a:spcBef>
                <a:spcPts val="400"/>
              </a:spcBef>
              <a:defRPr sz="2000" i="1">
                <a:solidFill>
                  <a:srgbClr val="007A87"/>
                </a:solidFill>
                <a:latin typeface="Times New Roman" panose="02020603050405020304"/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372870" y="3871595"/>
            <a:ext cx="94457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C2340"/>
                </a:solidFill>
                <a:latin typeface="Times New Roman" panose="02020603050405020304"/>
              </a:defRPr>
            </a:pPr>
            <a:r>
              <a:t>Accessible Care  •  Accountable Response  •  Better Patient Communication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7716</Words>
  <Application>WPS Presentation</Application>
  <PresentationFormat>On-screen Show (4:3)</PresentationFormat>
  <Paragraphs>195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Arial</vt:lpstr>
      <vt:lpstr>SimSun</vt:lpstr>
      <vt:lpstr>Wingdings</vt:lpstr>
      <vt:lpstr>Arial</vt:lpstr>
      <vt:lpstr>Times New Roman</vt:lpstr>
      <vt:lpstr>Calibri</vt:lpstr>
      <vt:lpstr>Microsoft YaHei</vt:lpstr>
      <vt:lpstr>Arial Unicode MS</vt:lpstr>
      <vt:lpstr>Times New Roman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NETHRAA</cp:lastModifiedBy>
  <cp:revision>2</cp:revision>
  <dcterms:created xsi:type="dcterms:W3CDTF">2013-01-27T09:14:00Z</dcterms:created>
  <dcterms:modified xsi:type="dcterms:W3CDTF">2026-10-24T07:24:03Z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26E2D982C1F143D387EB89906DD24C69_13</vt:lpwstr>
  </property>
</Properties>
</file>